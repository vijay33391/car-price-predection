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Roboto Medium"/>
      <p:regular r:id="rId17"/>
    </p:embeddedFont>
    <p:embeddedFont>
      <p:font typeface="Roboto Medium"/>
      <p:regular r:id="rId18"/>
    </p:embeddedFont>
    <p:embeddedFont>
      <p:font typeface="Roboto Medium"/>
      <p:regular r:id="rId19"/>
    </p:embeddedFont>
    <p:embeddedFont>
      <p:font typeface="Roboto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0.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car-price-predection-dx2zae5hc3xqh7uydgpnh8.streamlit.ap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315200" cy="8229600"/>
          </a:xfrm>
          <a:prstGeom prst="rect">
            <a:avLst/>
          </a:prstGeom>
        </p:spPr>
      </p:pic>
      <p:sp>
        <p:nvSpPr>
          <p:cNvPr id="3" name="Text 0"/>
          <p:cNvSpPr/>
          <p:nvPr/>
        </p:nvSpPr>
        <p:spPr>
          <a:xfrm>
            <a:off x="8108990" y="2295882"/>
            <a:ext cx="5727621" cy="2934653"/>
          </a:xfrm>
          <a:prstGeom prst="rect">
            <a:avLst/>
          </a:prstGeom>
          <a:noFill/>
          <a:ln/>
        </p:spPr>
        <p:txBody>
          <a:bodyPr wrap="square" lIns="0" tIns="0" rIns="0" bIns="0" rtlCol="0" anchor="t"/>
          <a:lstStyle/>
          <a:p>
            <a:pPr indent="0" marL="0">
              <a:lnSpc>
                <a:spcPts val="7700"/>
              </a:lnSpc>
              <a:buNone/>
            </a:pPr>
            <a:r>
              <a:rPr lang="en-US" sz="6150" dirty="0">
                <a:solidFill>
                  <a:srgbClr val="FFFFFF"/>
                </a:solidFill>
                <a:latin typeface="Roboto Medium" pitchFamily="34" charset="0"/>
                <a:ea typeface="Roboto Medium" pitchFamily="34" charset="-122"/>
                <a:cs typeface="Roboto Medium" pitchFamily="34" charset="-120"/>
              </a:rPr>
              <a:t>Driving Forward: Anticipating Car Prices</a:t>
            </a:r>
            <a:endParaRPr lang="en-US" sz="6150" dirty="0"/>
          </a:p>
        </p:txBody>
      </p:sp>
      <p:sp>
        <p:nvSpPr>
          <p:cNvPr id="4" name="Text 1"/>
          <p:cNvSpPr/>
          <p:nvPr/>
        </p:nvSpPr>
        <p:spPr>
          <a:xfrm>
            <a:off x="8108990" y="5570696"/>
            <a:ext cx="57276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40168"/>
            <a:ext cx="5387102" cy="673418"/>
          </a:xfrm>
          <a:prstGeom prst="rect">
            <a:avLst/>
          </a:prstGeom>
          <a:noFill/>
          <a:ln/>
        </p:spPr>
        <p:txBody>
          <a:bodyPr wrap="none" lIns="0" tIns="0" rIns="0" bIns="0" rtlCol="0" anchor="t"/>
          <a:lstStyle/>
          <a:p>
            <a:pPr indent="0" marL="0">
              <a:lnSpc>
                <a:spcPts val="5300"/>
              </a:lnSpc>
              <a:buNone/>
            </a:pPr>
            <a:r>
              <a:rPr lang="en-US" sz="4200" dirty="0">
                <a:solidFill>
                  <a:srgbClr val="FFFFFF"/>
                </a:solidFill>
                <a:latin typeface="Roboto Medium" pitchFamily="34" charset="0"/>
                <a:ea typeface="Roboto Medium" pitchFamily="34" charset="-122"/>
                <a:cs typeface="Roboto Medium" pitchFamily="34" charset="-120"/>
              </a:rPr>
              <a:t>Let's Solve This:</a:t>
            </a:r>
            <a:endParaRPr lang="en-US" sz="4200" dirty="0"/>
          </a:p>
        </p:txBody>
      </p:sp>
      <p:pic>
        <p:nvPicPr>
          <p:cNvPr id="3" name="Image 0" descr="preencoded.png">    </p:cNvPr>
          <p:cNvPicPr>
            <a:picLocks noChangeAspect="1"/>
          </p:cNvPicPr>
          <p:nvPr/>
        </p:nvPicPr>
        <p:blipFill>
          <a:blip r:embed="rId1"/>
          <a:stretch>
            <a:fillRect/>
          </a:stretch>
        </p:blipFill>
        <p:spPr>
          <a:xfrm>
            <a:off x="793790" y="2579132"/>
            <a:ext cx="5945505" cy="4067889"/>
          </a:xfrm>
          <a:prstGeom prst="rect">
            <a:avLst/>
          </a:prstGeom>
        </p:spPr>
      </p:pic>
      <p:sp>
        <p:nvSpPr>
          <p:cNvPr id="4" name="Text 1"/>
          <p:cNvSpPr/>
          <p:nvPr/>
        </p:nvSpPr>
        <p:spPr>
          <a:xfrm>
            <a:off x="7585710" y="2530554"/>
            <a:ext cx="6258520" cy="4137660"/>
          </a:xfrm>
          <a:prstGeom prst="rect">
            <a:avLst/>
          </a:prstGeom>
          <a:noFill/>
          <a:ln/>
        </p:spPr>
        <p:txBody>
          <a:bodyPr wrap="square" lIns="0" tIns="0" rIns="0" bIns="0" rtlCol="0" anchor="t"/>
          <a:lstStyle/>
          <a:p>
            <a:pPr indent="0" marL="0">
              <a:lnSpc>
                <a:spcPts val="2700"/>
              </a:lnSpc>
              <a:buNone/>
            </a:pPr>
            <a:r>
              <a:rPr lang="en-US" sz="1650" dirty="0">
                <a:solidFill>
                  <a:srgbClr val="CFD0D8"/>
                </a:solidFill>
                <a:latin typeface="Roboto" pitchFamily="34" charset="0"/>
                <a:ea typeface="Roboto" pitchFamily="34" charset="-122"/>
                <a:cs typeface="Roboto" pitchFamily="34" charset="-120"/>
              </a:rPr>
              <a:t>A </a:t>
            </a:r>
            <a:pPr indent="0" marL="0">
              <a:lnSpc>
                <a:spcPts val="2700"/>
              </a:lnSpc>
              <a:buNone/>
            </a:pPr>
            <a:r>
              <a:rPr lang="en-US" sz="1650" b="1" dirty="0">
                <a:solidFill>
                  <a:srgbClr val="CFD0D8"/>
                </a:solidFill>
                <a:latin typeface="Roboto" pitchFamily="34" charset="0"/>
                <a:ea typeface="Roboto" pitchFamily="34" charset="-122"/>
                <a:cs typeface="Roboto" pitchFamily="34" charset="-120"/>
              </a:rPr>
              <a:t>car company expands into the USA market</a:t>
            </a:r>
            <a:pPr indent="0" marL="0">
              <a:lnSpc>
                <a:spcPts val="2700"/>
              </a:lnSpc>
              <a:buNone/>
            </a:pPr>
            <a:r>
              <a:rPr lang="en-US" sz="1650" dirty="0">
                <a:solidFill>
                  <a:srgbClr val="CFD0D8"/>
                </a:solidFill>
                <a:latin typeface="Roboto" pitchFamily="34" charset="0"/>
                <a:ea typeface="Roboto" pitchFamily="34" charset="-122"/>
                <a:cs typeface="Roboto" pitchFamily="34" charset="-120"/>
              </a:rPr>
              <a:t>, understanding and predicting car prices is essential for competitive pricing and market positioning. Car prices are influenced by multiple factors, including </a:t>
            </a:r>
            <a:pPr indent="0" marL="0">
              <a:lnSpc>
                <a:spcPts val="2700"/>
              </a:lnSpc>
              <a:buNone/>
            </a:pPr>
            <a:r>
              <a:rPr lang="en-US" sz="1650" b="1" dirty="0">
                <a:solidFill>
                  <a:srgbClr val="CFD0D8"/>
                </a:solidFill>
                <a:latin typeface="Roboto" pitchFamily="34" charset="0"/>
                <a:ea typeface="Roboto" pitchFamily="34" charset="-122"/>
                <a:cs typeface="Roboto" pitchFamily="34" charset="-120"/>
              </a:rPr>
              <a:t>vehicle features, technical specifications, brand reputation, and market demand</a:t>
            </a:r>
            <a:pPr indent="0" marL="0">
              <a:lnSpc>
                <a:spcPts val="2700"/>
              </a:lnSpc>
              <a:buNone/>
            </a:pPr>
            <a:r>
              <a:rPr lang="en-US" sz="1650" dirty="0">
                <a:solidFill>
                  <a:srgbClr val="CFD0D8"/>
                </a:solidFill>
                <a:latin typeface="Roboto" pitchFamily="34" charset="0"/>
                <a:ea typeface="Roboto" pitchFamily="34" charset="-122"/>
                <a:cs typeface="Roboto" pitchFamily="34" charset="-120"/>
              </a:rPr>
              <a:t>. Without an accurate pricing strategy, the company risks </a:t>
            </a:r>
            <a:pPr indent="0" marL="0">
              <a:lnSpc>
                <a:spcPts val="2700"/>
              </a:lnSpc>
              <a:buNone/>
            </a:pPr>
            <a:r>
              <a:rPr lang="en-US" sz="1650" b="1" dirty="0">
                <a:solidFill>
                  <a:srgbClr val="CFD0D8"/>
                </a:solidFill>
                <a:latin typeface="Roboto" pitchFamily="34" charset="0"/>
                <a:ea typeface="Roboto" pitchFamily="34" charset="-122"/>
                <a:cs typeface="Roboto" pitchFamily="34" charset="-120"/>
              </a:rPr>
              <a:t>overpricing, leading to lower sales, or underpricing, reducing profitability</a:t>
            </a:r>
            <a:pPr indent="0" marL="0">
              <a:lnSpc>
                <a:spcPts val="2700"/>
              </a:lnSpc>
              <a:buNone/>
            </a:pPr>
            <a:r>
              <a:rPr lang="en-US" sz="1650" dirty="0">
                <a:solidFill>
                  <a:srgbClr val="CFD0D8"/>
                </a:solidFill>
                <a:latin typeface="Roboto" pitchFamily="34" charset="0"/>
                <a:ea typeface="Roboto" pitchFamily="34" charset="-122"/>
                <a:cs typeface="Roboto" pitchFamily="34" charset="-120"/>
              </a:rPr>
              <a:t>. To address this challenge, the company aims to develop a </a:t>
            </a:r>
            <a:pPr indent="0" marL="0">
              <a:lnSpc>
                <a:spcPts val="2700"/>
              </a:lnSpc>
              <a:buNone/>
            </a:pPr>
            <a:r>
              <a:rPr lang="en-US" sz="1650" b="1" dirty="0">
                <a:solidFill>
                  <a:srgbClr val="CFD0D8"/>
                </a:solidFill>
                <a:latin typeface="Roboto" pitchFamily="34" charset="0"/>
                <a:ea typeface="Roboto" pitchFamily="34" charset="-122"/>
                <a:cs typeface="Roboto" pitchFamily="34" charset="-120"/>
              </a:rPr>
              <a:t>data-driven car price prediction model</a:t>
            </a:r>
            <a:pPr indent="0" marL="0">
              <a:lnSpc>
                <a:spcPts val="2700"/>
              </a:lnSpc>
              <a:buNone/>
            </a:pPr>
            <a:r>
              <a:rPr lang="en-US" sz="1650" dirty="0">
                <a:solidFill>
                  <a:srgbClr val="CFD0D8"/>
                </a:solidFill>
                <a:latin typeface="Roboto" pitchFamily="34" charset="0"/>
                <a:ea typeface="Roboto" pitchFamily="34" charset="-122"/>
                <a:cs typeface="Roboto" pitchFamily="34" charset="-120"/>
              </a:rPr>
              <a:t> that analyzes these key factors. By leveraging </a:t>
            </a:r>
            <a:pPr indent="0" marL="0">
              <a:lnSpc>
                <a:spcPts val="2700"/>
              </a:lnSpc>
              <a:buNone/>
            </a:pPr>
            <a:r>
              <a:rPr lang="en-US" sz="1650" b="1" dirty="0">
                <a:solidFill>
                  <a:srgbClr val="CFD0D8"/>
                </a:solidFill>
                <a:latin typeface="Roboto" pitchFamily="34" charset="0"/>
                <a:ea typeface="Roboto" pitchFamily="34" charset="-122"/>
                <a:cs typeface="Roboto" pitchFamily="34" charset="-120"/>
              </a:rPr>
              <a:t>machine learning and historical market data</a:t>
            </a:r>
            <a:pPr indent="0" marL="0">
              <a:lnSpc>
                <a:spcPts val="2700"/>
              </a:lnSpc>
              <a:buNone/>
            </a:pPr>
            <a:r>
              <a:rPr lang="en-US" sz="1650" dirty="0">
                <a:solidFill>
                  <a:srgbClr val="CFD0D8"/>
                </a:solidFill>
                <a:latin typeface="Roboto" pitchFamily="34" charset="0"/>
                <a:ea typeface="Roboto" pitchFamily="34" charset="-122"/>
                <a:cs typeface="Roboto" pitchFamily="34" charset="-120"/>
              </a:rPr>
              <a:t>, the model will help estimate optimal car prices, ensuring competitiveness and maximizing revenue potential in the US automotive market.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0203"/>
            <a:ext cx="4536519" cy="566976"/>
          </a:xfrm>
          <a:prstGeom prst="rect">
            <a:avLst/>
          </a:prstGeom>
          <a:noFill/>
          <a:ln/>
        </p:spPr>
        <p:txBody>
          <a:bodyPr wrap="none" lIns="0" tIns="0" rIns="0" bIns="0" rtlCol="0" anchor="t"/>
          <a:lstStyle/>
          <a:p>
            <a:pPr indent="0" marL="0">
              <a:lnSpc>
                <a:spcPts val="4450"/>
              </a:lnSpc>
              <a:buNone/>
            </a:pPr>
            <a:r>
              <a:rPr lang="en-US" sz="3550" dirty="0">
                <a:solidFill>
                  <a:srgbClr val="FFFFFF"/>
                </a:solidFill>
                <a:latin typeface="Roboto Medium" pitchFamily="34" charset="0"/>
                <a:ea typeface="Roboto Medium" pitchFamily="34" charset="-122"/>
                <a:cs typeface="Roboto Medium" pitchFamily="34" charset="-120"/>
              </a:rPr>
              <a:t>Topic: Business</a:t>
            </a:r>
            <a:endParaRPr lang="en-US" sz="3550" dirty="0"/>
          </a:p>
        </p:txBody>
      </p:sp>
      <p:pic>
        <p:nvPicPr>
          <p:cNvPr id="3" name="Image 0" descr="preencoded.png">    </p:cNvPr>
          <p:cNvPicPr>
            <a:picLocks noChangeAspect="1"/>
          </p:cNvPicPr>
          <p:nvPr/>
        </p:nvPicPr>
        <p:blipFill>
          <a:blip r:embed="rId1"/>
          <a:stretch>
            <a:fillRect/>
          </a:stretch>
        </p:blipFill>
        <p:spPr>
          <a:xfrm>
            <a:off x="793790" y="1600081"/>
            <a:ext cx="2445187" cy="1511141"/>
          </a:xfrm>
          <a:prstGeom prst="rect">
            <a:avLst/>
          </a:prstGeom>
        </p:spPr>
      </p:pic>
      <p:sp>
        <p:nvSpPr>
          <p:cNvPr id="4" name="Text 1"/>
          <p:cNvSpPr/>
          <p:nvPr/>
        </p:nvSpPr>
        <p:spPr>
          <a:xfrm>
            <a:off x="793790" y="3338036"/>
            <a:ext cx="3056572" cy="566976"/>
          </a:xfrm>
          <a:prstGeom prst="rect">
            <a:avLst/>
          </a:prstGeom>
          <a:noFill/>
          <a:ln/>
        </p:spPr>
        <p:txBody>
          <a:bodyPr wrap="squar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Data Collection &amp; Preprocessing</a:t>
            </a:r>
            <a:endParaRPr lang="en-US" sz="1750" dirty="0"/>
          </a:p>
        </p:txBody>
      </p:sp>
      <p:sp>
        <p:nvSpPr>
          <p:cNvPr id="5" name="Text 2"/>
          <p:cNvSpPr/>
          <p:nvPr/>
        </p:nvSpPr>
        <p:spPr>
          <a:xfrm>
            <a:off x="793790" y="4013835"/>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Gathering and preparing the data.</a:t>
            </a:r>
            <a:endParaRPr lang="en-US" sz="1400" dirty="0"/>
          </a:p>
        </p:txBody>
      </p:sp>
      <p:pic>
        <p:nvPicPr>
          <p:cNvPr id="6" name="Image 1" descr="preencoded.png">    </p:cNvPr>
          <p:cNvPicPr>
            <a:picLocks noChangeAspect="1"/>
          </p:cNvPicPr>
          <p:nvPr/>
        </p:nvPicPr>
        <p:blipFill>
          <a:blip r:embed="rId2"/>
          <a:stretch>
            <a:fillRect/>
          </a:stretch>
        </p:blipFill>
        <p:spPr>
          <a:xfrm>
            <a:off x="4122539" y="1600081"/>
            <a:ext cx="2445187" cy="1511141"/>
          </a:xfrm>
          <a:prstGeom prst="rect">
            <a:avLst/>
          </a:prstGeom>
        </p:spPr>
      </p:pic>
      <p:sp>
        <p:nvSpPr>
          <p:cNvPr id="7" name="Text 3"/>
          <p:cNvSpPr/>
          <p:nvPr/>
        </p:nvSpPr>
        <p:spPr>
          <a:xfrm>
            <a:off x="4122539" y="3338036"/>
            <a:ext cx="3056572" cy="566976"/>
          </a:xfrm>
          <a:prstGeom prst="rect">
            <a:avLst/>
          </a:prstGeom>
          <a:noFill/>
          <a:ln/>
        </p:spPr>
        <p:txBody>
          <a:bodyPr wrap="squar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Exploratory Data Analysis (EDA)</a:t>
            </a:r>
            <a:endParaRPr lang="en-US" sz="1750" dirty="0"/>
          </a:p>
        </p:txBody>
      </p:sp>
      <p:sp>
        <p:nvSpPr>
          <p:cNvPr id="8" name="Text 4"/>
          <p:cNvSpPr/>
          <p:nvPr/>
        </p:nvSpPr>
        <p:spPr>
          <a:xfrm>
            <a:off x="4122539" y="4013835"/>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Uncovering patterns and insights.</a:t>
            </a:r>
            <a:endParaRPr lang="en-US" sz="1400" dirty="0"/>
          </a:p>
        </p:txBody>
      </p:sp>
      <p:pic>
        <p:nvPicPr>
          <p:cNvPr id="9" name="Image 2" descr="preencoded.png">    </p:cNvPr>
          <p:cNvPicPr>
            <a:picLocks noChangeAspect="1"/>
          </p:cNvPicPr>
          <p:nvPr/>
        </p:nvPicPr>
        <p:blipFill>
          <a:blip r:embed="rId3"/>
          <a:stretch>
            <a:fillRect/>
          </a:stretch>
        </p:blipFill>
        <p:spPr>
          <a:xfrm>
            <a:off x="7451288" y="1600081"/>
            <a:ext cx="2445187" cy="1511141"/>
          </a:xfrm>
          <a:prstGeom prst="rect">
            <a:avLst/>
          </a:prstGeom>
        </p:spPr>
      </p:pic>
      <p:sp>
        <p:nvSpPr>
          <p:cNvPr id="10" name="Text 5"/>
          <p:cNvSpPr/>
          <p:nvPr/>
        </p:nvSpPr>
        <p:spPr>
          <a:xfrm>
            <a:off x="7451288" y="3338036"/>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Feature Engineering</a:t>
            </a:r>
            <a:endParaRPr lang="en-US" sz="1750" dirty="0"/>
          </a:p>
        </p:txBody>
      </p:sp>
      <p:sp>
        <p:nvSpPr>
          <p:cNvPr id="11" name="Text 6"/>
          <p:cNvSpPr/>
          <p:nvPr/>
        </p:nvSpPr>
        <p:spPr>
          <a:xfrm>
            <a:off x="7451288" y="3730347"/>
            <a:ext cx="3056572" cy="580549"/>
          </a:xfrm>
          <a:prstGeom prst="rect">
            <a:avLst/>
          </a:prstGeom>
          <a:noFill/>
          <a:ln/>
        </p:spPr>
        <p:txBody>
          <a:bodyPr wrap="squar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Crafting relevant features for the model.</a:t>
            </a:r>
            <a:endParaRPr lang="en-US" sz="1400" dirty="0"/>
          </a:p>
        </p:txBody>
      </p:sp>
      <p:pic>
        <p:nvPicPr>
          <p:cNvPr id="12" name="Image 3" descr="preencoded.png">    </p:cNvPr>
          <p:cNvPicPr>
            <a:picLocks noChangeAspect="1"/>
          </p:cNvPicPr>
          <p:nvPr/>
        </p:nvPicPr>
        <p:blipFill>
          <a:blip r:embed="rId4"/>
          <a:stretch>
            <a:fillRect/>
          </a:stretch>
        </p:blipFill>
        <p:spPr>
          <a:xfrm>
            <a:off x="10780038" y="1600081"/>
            <a:ext cx="2445187" cy="1511141"/>
          </a:xfrm>
          <a:prstGeom prst="rect">
            <a:avLst/>
          </a:prstGeom>
        </p:spPr>
      </p:pic>
      <p:sp>
        <p:nvSpPr>
          <p:cNvPr id="13" name="Text 7"/>
          <p:cNvSpPr/>
          <p:nvPr/>
        </p:nvSpPr>
        <p:spPr>
          <a:xfrm>
            <a:off x="10780038" y="3338036"/>
            <a:ext cx="3056572" cy="566976"/>
          </a:xfrm>
          <a:prstGeom prst="rect">
            <a:avLst/>
          </a:prstGeom>
          <a:noFill/>
          <a:ln/>
        </p:spPr>
        <p:txBody>
          <a:bodyPr wrap="squar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Model Selection &amp; Benchmarking</a:t>
            </a:r>
            <a:endParaRPr lang="en-US" sz="1750" dirty="0"/>
          </a:p>
        </p:txBody>
      </p:sp>
      <p:sp>
        <p:nvSpPr>
          <p:cNvPr id="14" name="Text 8"/>
          <p:cNvSpPr/>
          <p:nvPr/>
        </p:nvSpPr>
        <p:spPr>
          <a:xfrm>
            <a:off x="10780038" y="4013835"/>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Choosing the best model for the job.</a:t>
            </a:r>
            <a:endParaRPr lang="en-US" sz="1400" dirty="0"/>
          </a:p>
        </p:txBody>
      </p:sp>
      <p:pic>
        <p:nvPicPr>
          <p:cNvPr id="15" name="Image 4" descr="preencoded.png">    </p:cNvPr>
          <p:cNvPicPr>
            <a:picLocks noChangeAspect="1"/>
          </p:cNvPicPr>
          <p:nvPr/>
        </p:nvPicPr>
        <p:blipFill>
          <a:blip r:embed="rId5"/>
          <a:stretch>
            <a:fillRect/>
          </a:stretch>
        </p:blipFill>
        <p:spPr>
          <a:xfrm>
            <a:off x="793790" y="4855250"/>
            <a:ext cx="2445187" cy="1511141"/>
          </a:xfrm>
          <a:prstGeom prst="rect">
            <a:avLst/>
          </a:prstGeom>
        </p:spPr>
      </p:pic>
      <p:sp>
        <p:nvSpPr>
          <p:cNvPr id="16" name="Text 9"/>
          <p:cNvSpPr/>
          <p:nvPr/>
        </p:nvSpPr>
        <p:spPr>
          <a:xfrm>
            <a:off x="793790" y="6593205"/>
            <a:ext cx="2389584" cy="283488"/>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Hyperparameter Tuning</a:t>
            </a:r>
            <a:endParaRPr lang="en-US" sz="1750" dirty="0"/>
          </a:p>
        </p:txBody>
      </p:sp>
      <p:sp>
        <p:nvSpPr>
          <p:cNvPr id="17" name="Text 10"/>
          <p:cNvSpPr/>
          <p:nvPr/>
        </p:nvSpPr>
        <p:spPr>
          <a:xfrm>
            <a:off x="793790" y="6985516"/>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Optimizing model parameters.</a:t>
            </a:r>
            <a:endParaRPr lang="en-US" sz="1400" dirty="0"/>
          </a:p>
        </p:txBody>
      </p:sp>
      <p:pic>
        <p:nvPicPr>
          <p:cNvPr id="18" name="Image 5" descr="preencoded.png">    </p:cNvPr>
          <p:cNvPicPr>
            <a:picLocks noChangeAspect="1"/>
          </p:cNvPicPr>
          <p:nvPr/>
        </p:nvPicPr>
        <p:blipFill>
          <a:blip r:embed="rId6"/>
          <a:stretch>
            <a:fillRect/>
          </a:stretch>
        </p:blipFill>
        <p:spPr>
          <a:xfrm>
            <a:off x="4122539" y="4855250"/>
            <a:ext cx="2445187" cy="1511141"/>
          </a:xfrm>
          <a:prstGeom prst="rect">
            <a:avLst/>
          </a:prstGeom>
        </p:spPr>
      </p:pic>
      <p:sp>
        <p:nvSpPr>
          <p:cNvPr id="19" name="Text 11"/>
          <p:cNvSpPr/>
          <p:nvPr/>
        </p:nvSpPr>
        <p:spPr>
          <a:xfrm>
            <a:off x="4122539" y="6593205"/>
            <a:ext cx="3056572" cy="566976"/>
          </a:xfrm>
          <a:prstGeom prst="rect">
            <a:avLst/>
          </a:prstGeom>
          <a:noFill/>
          <a:ln/>
        </p:spPr>
        <p:txBody>
          <a:bodyPr wrap="squar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Improvement of Model Performance</a:t>
            </a:r>
            <a:endParaRPr lang="en-US" sz="1750" dirty="0"/>
          </a:p>
        </p:txBody>
      </p:sp>
      <p:sp>
        <p:nvSpPr>
          <p:cNvPr id="20" name="Text 12"/>
          <p:cNvSpPr/>
          <p:nvPr/>
        </p:nvSpPr>
        <p:spPr>
          <a:xfrm>
            <a:off x="4122539" y="7269004"/>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Enhancing model accuracy.</a:t>
            </a:r>
            <a:endParaRPr lang="en-US" sz="1400" dirty="0"/>
          </a:p>
        </p:txBody>
      </p:sp>
      <p:pic>
        <p:nvPicPr>
          <p:cNvPr id="21" name="Image 6" descr="preencoded.png">    </p:cNvPr>
          <p:cNvPicPr>
            <a:picLocks noChangeAspect="1"/>
          </p:cNvPicPr>
          <p:nvPr/>
        </p:nvPicPr>
        <p:blipFill>
          <a:blip r:embed="rId7"/>
          <a:stretch>
            <a:fillRect/>
          </a:stretch>
        </p:blipFill>
        <p:spPr>
          <a:xfrm>
            <a:off x="7451288" y="4855250"/>
            <a:ext cx="2445187" cy="1511141"/>
          </a:xfrm>
          <a:prstGeom prst="rect">
            <a:avLst/>
          </a:prstGeom>
        </p:spPr>
      </p:pic>
      <p:sp>
        <p:nvSpPr>
          <p:cNvPr id="22" name="Text 13"/>
          <p:cNvSpPr/>
          <p:nvPr/>
        </p:nvSpPr>
        <p:spPr>
          <a:xfrm>
            <a:off x="7451288" y="6593205"/>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CFD0D8"/>
                </a:solidFill>
                <a:latin typeface="Roboto Medium" pitchFamily="34" charset="0"/>
                <a:ea typeface="Roboto Medium" pitchFamily="34" charset="-122"/>
                <a:cs typeface="Roboto Medium" pitchFamily="34" charset="-120"/>
              </a:rPr>
              <a:t>Deployment</a:t>
            </a:r>
            <a:endParaRPr lang="en-US" sz="1750" dirty="0"/>
          </a:p>
        </p:txBody>
      </p:sp>
      <p:sp>
        <p:nvSpPr>
          <p:cNvPr id="23" name="Text 14"/>
          <p:cNvSpPr/>
          <p:nvPr/>
        </p:nvSpPr>
        <p:spPr>
          <a:xfrm>
            <a:off x="7451288" y="6985516"/>
            <a:ext cx="3056572" cy="290274"/>
          </a:xfrm>
          <a:prstGeom prst="rect">
            <a:avLst/>
          </a:prstGeom>
          <a:noFill/>
          <a:ln/>
        </p:spPr>
        <p:txBody>
          <a:bodyPr wrap="none" lIns="0" tIns="0" rIns="0" bIns="0" rtlCol="0" anchor="t"/>
          <a:lstStyle/>
          <a:p>
            <a:pPr algn="l" indent="0" marL="0">
              <a:lnSpc>
                <a:spcPts val="2250"/>
              </a:lnSpc>
              <a:buNone/>
            </a:pPr>
            <a:r>
              <a:rPr lang="en-US" sz="1400" dirty="0">
                <a:solidFill>
                  <a:srgbClr val="CFD0D8"/>
                </a:solidFill>
                <a:latin typeface="Roboto" pitchFamily="34" charset="0"/>
                <a:ea typeface="Roboto" pitchFamily="34" charset="-122"/>
                <a:cs typeface="Roboto" pitchFamily="34" charset="-120"/>
              </a:rPr>
              <a:t>Putting the model into action.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9735" y="581144"/>
            <a:ext cx="3563541" cy="429339"/>
          </a:xfrm>
          <a:prstGeom prst="rect">
            <a:avLst/>
          </a:prstGeom>
          <a:noFill/>
          <a:ln/>
        </p:spPr>
        <p:txBody>
          <a:bodyPr wrap="none" lIns="0" tIns="0" rIns="0" bIns="0" rtlCol="0" anchor="t"/>
          <a:lstStyle/>
          <a:p>
            <a:pPr indent="0" marL="0">
              <a:lnSpc>
                <a:spcPts val="3350"/>
              </a:lnSpc>
              <a:buNone/>
            </a:pPr>
            <a:r>
              <a:rPr lang="en-US" sz="2700" dirty="0">
                <a:solidFill>
                  <a:srgbClr val="FFFFFF"/>
                </a:solidFill>
                <a:latin typeface="Roboto Medium" pitchFamily="34" charset="0"/>
                <a:ea typeface="Roboto Medium" pitchFamily="34" charset="-122"/>
                <a:cs typeface="Roboto Medium" pitchFamily="34" charset="-120"/>
              </a:rPr>
              <a:t>PROPOSED SOLUTION:</a:t>
            </a:r>
            <a:endParaRPr lang="en-US" sz="2700" dirty="0"/>
          </a:p>
        </p:txBody>
      </p:sp>
      <p:pic>
        <p:nvPicPr>
          <p:cNvPr id="3" name="Image 0" descr="preencoded.png">    </p:cNvPr>
          <p:cNvPicPr>
            <a:picLocks noChangeAspect="1"/>
          </p:cNvPicPr>
          <p:nvPr/>
        </p:nvPicPr>
        <p:blipFill>
          <a:blip r:embed="rId1"/>
          <a:stretch>
            <a:fillRect/>
          </a:stretch>
        </p:blipFill>
        <p:spPr>
          <a:xfrm>
            <a:off x="739735" y="1285161"/>
            <a:ext cx="1897737" cy="1172885"/>
          </a:xfrm>
          <a:prstGeom prst="rect">
            <a:avLst/>
          </a:prstGeom>
        </p:spPr>
      </p:pic>
      <p:sp>
        <p:nvSpPr>
          <p:cNvPr id="4" name="Text 1"/>
          <p:cNvSpPr/>
          <p:nvPr/>
        </p:nvSpPr>
        <p:spPr>
          <a:xfrm>
            <a:off x="739735" y="2629733"/>
            <a:ext cx="1811536"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Data-Driven &amp; Objective</a:t>
            </a:r>
            <a:endParaRPr lang="en-US" sz="1350" dirty="0"/>
          </a:p>
        </p:txBody>
      </p:sp>
      <p:sp>
        <p:nvSpPr>
          <p:cNvPr id="5" name="Text 2"/>
          <p:cNvSpPr/>
          <p:nvPr/>
        </p:nvSpPr>
        <p:spPr>
          <a:xfrm>
            <a:off x="739735" y="292667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Uses data to provide neutral insights.</a:t>
            </a:r>
            <a:endParaRPr lang="en-US" sz="1050" dirty="0"/>
          </a:p>
        </p:txBody>
      </p:sp>
      <p:pic>
        <p:nvPicPr>
          <p:cNvPr id="6" name="Image 1" descr="preencoded.png">    </p:cNvPr>
          <p:cNvPicPr>
            <a:picLocks noChangeAspect="1"/>
          </p:cNvPicPr>
          <p:nvPr/>
        </p:nvPicPr>
        <p:blipFill>
          <a:blip r:embed="rId2"/>
          <a:stretch>
            <a:fillRect/>
          </a:stretch>
        </p:blipFill>
        <p:spPr>
          <a:xfrm>
            <a:off x="4078962" y="1285161"/>
            <a:ext cx="1897737" cy="1172885"/>
          </a:xfrm>
          <a:prstGeom prst="rect">
            <a:avLst/>
          </a:prstGeom>
        </p:spPr>
      </p:pic>
      <p:sp>
        <p:nvSpPr>
          <p:cNvPr id="7" name="Text 3"/>
          <p:cNvSpPr/>
          <p:nvPr/>
        </p:nvSpPr>
        <p:spPr>
          <a:xfrm>
            <a:off x="4078962" y="2629733"/>
            <a:ext cx="1717238"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Market-Aware</a:t>
            </a:r>
            <a:endParaRPr lang="en-US" sz="1350" dirty="0"/>
          </a:p>
        </p:txBody>
      </p:sp>
      <p:sp>
        <p:nvSpPr>
          <p:cNvPr id="8" name="Text 4"/>
          <p:cNvSpPr/>
          <p:nvPr/>
        </p:nvSpPr>
        <p:spPr>
          <a:xfrm>
            <a:off x="4078962" y="292667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Considers market factors for pricing.</a:t>
            </a:r>
            <a:endParaRPr lang="en-US" sz="1050" dirty="0"/>
          </a:p>
        </p:txBody>
      </p:sp>
      <p:pic>
        <p:nvPicPr>
          <p:cNvPr id="9" name="Image 2" descr="preencoded.png">    </p:cNvPr>
          <p:cNvPicPr>
            <a:picLocks noChangeAspect="1"/>
          </p:cNvPicPr>
          <p:nvPr/>
        </p:nvPicPr>
        <p:blipFill>
          <a:blip r:embed="rId3"/>
          <a:stretch>
            <a:fillRect/>
          </a:stretch>
        </p:blipFill>
        <p:spPr>
          <a:xfrm>
            <a:off x="7418189" y="1285161"/>
            <a:ext cx="1897737" cy="1172885"/>
          </a:xfrm>
          <a:prstGeom prst="rect">
            <a:avLst/>
          </a:prstGeom>
        </p:spPr>
      </p:pic>
      <p:sp>
        <p:nvSpPr>
          <p:cNvPr id="10" name="Text 5"/>
          <p:cNvSpPr/>
          <p:nvPr/>
        </p:nvSpPr>
        <p:spPr>
          <a:xfrm>
            <a:off x="7418189" y="2629733"/>
            <a:ext cx="1717238"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Scalable &amp; Adaptive</a:t>
            </a:r>
            <a:endParaRPr lang="en-US" sz="1350" dirty="0"/>
          </a:p>
        </p:txBody>
      </p:sp>
      <p:sp>
        <p:nvSpPr>
          <p:cNvPr id="11" name="Text 6"/>
          <p:cNvSpPr/>
          <p:nvPr/>
        </p:nvSpPr>
        <p:spPr>
          <a:xfrm>
            <a:off x="7418189" y="292667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Adjusts to changing data and scales efficiently.</a:t>
            </a:r>
            <a:endParaRPr lang="en-US" sz="1050" dirty="0"/>
          </a:p>
        </p:txBody>
      </p:sp>
      <p:pic>
        <p:nvPicPr>
          <p:cNvPr id="12" name="Image 3" descr="preencoded.png">    </p:cNvPr>
          <p:cNvPicPr>
            <a:picLocks noChangeAspect="1"/>
          </p:cNvPicPr>
          <p:nvPr/>
        </p:nvPicPr>
        <p:blipFill>
          <a:blip r:embed="rId4"/>
          <a:stretch>
            <a:fillRect/>
          </a:stretch>
        </p:blipFill>
        <p:spPr>
          <a:xfrm>
            <a:off x="10757416" y="1285161"/>
            <a:ext cx="1897737" cy="1172885"/>
          </a:xfrm>
          <a:prstGeom prst="rect">
            <a:avLst/>
          </a:prstGeom>
        </p:spPr>
      </p:pic>
      <p:sp>
        <p:nvSpPr>
          <p:cNvPr id="13" name="Text 7"/>
          <p:cNvSpPr/>
          <p:nvPr/>
        </p:nvSpPr>
        <p:spPr>
          <a:xfrm>
            <a:off x="10757416" y="2629733"/>
            <a:ext cx="1717238"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Automated &amp; Efficient</a:t>
            </a:r>
            <a:endParaRPr lang="en-US" sz="1350" dirty="0"/>
          </a:p>
        </p:txBody>
      </p:sp>
      <p:sp>
        <p:nvSpPr>
          <p:cNvPr id="14" name="Text 8"/>
          <p:cNvSpPr/>
          <p:nvPr/>
        </p:nvSpPr>
        <p:spPr>
          <a:xfrm>
            <a:off x="10757416" y="292667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Streamlines pricing with automation.</a:t>
            </a:r>
            <a:endParaRPr lang="en-US" sz="1050" dirty="0"/>
          </a:p>
        </p:txBody>
      </p:sp>
      <p:pic>
        <p:nvPicPr>
          <p:cNvPr id="15" name="Image 4" descr="preencoded.png">    </p:cNvPr>
          <p:cNvPicPr>
            <a:picLocks noChangeAspect="1"/>
          </p:cNvPicPr>
          <p:nvPr/>
        </p:nvPicPr>
        <p:blipFill>
          <a:blip r:embed="rId5"/>
          <a:stretch>
            <a:fillRect/>
          </a:stretch>
        </p:blipFill>
        <p:spPr>
          <a:xfrm>
            <a:off x="739735" y="3558540"/>
            <a:ext cx="1897737" cy="1172885"/>
          </a:xfrm>
          <a:prstGeom prst="rect">
            <a:avLst/>
          </a:prstGeom>
        </p:spPr>
      </p:pic>
      <p:sp>
        <p:nvSpPr>
          <p:cNvPr id="16" name="Text 9"/>
          <p:cNvSpPr/>
          <p:nvPr/>
        </p:nvSpPr>
        <p:spPr>
          <a:xfrm>
            <a:off x="739735" y="4903113"/>
            <a:ext cx="2437567"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Increased Sales &amp; Market Share</a:t>
            </a:r>
            <a:endParaRPr lang="en-US" sz="1350" dirty="0"/>
          </a:p>
        </p:txBody>
      </p:sp>
      <p:sp>
        <p:nvSpPr>
          <p:cNvPr id="17" name="Text 10"/>
          <p:cNvSpPr/>
          <p:nvPr/>
        </p:nvSpPr>
        <p:spPr>
          <a:xfrm>
            <a:off x="739735" y="520005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Drives revenue and market presence.</a:t>
            </a:r>
            <a:endParaRPr lang="en-US" sz="1050" dirty="0"/>
          </a:p>
        </p:txBody>
      </p:sp>
      <p:pic>
        <p:nvPicPr>
          <p:cNvPr id="18" name="Image 5" descr="preencoded.png">    </p:cNvPr>
          <p:cNvPicPr>
            <a:picLocks noChangeAspect="1"/>
          </p:cNvPicPr>
          <p:nvPr/>
        </p:nvPicPr>
        <p:blipFill>
          <a:blip r:embed="rId6"/>
          <a:stretch>
            <a:fillRect/>
          </a:stretch>
        </p:blipFill>
        <p:spPr>
          <a:xfrm>
            <a:off x="4078962" y="3558540"/>
            <a:ext cx="1897737" cy="1172885"/>
          </a:xfrm>
          <a:prstGeom prst="rect">
            <a:avLst/>
          </a:prstGeom>
        </p:spPr>
      </p:pic>
      <p:sp>
        <p:nvSpPr>
          <p:cNvPr id="19" name="Text 11"/>
          <p:cNvSpPr/>
          <p:nvPr/>
        </p:nvSpPr>
        <p:spPr>
          <a:xfrm>
            <a:off x="4078962" y="4903113"/>
            <a:ext cx="1920716"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Optimized Profit Margins</a:t>
            </a:r>
            <a:endParaRPr lang="en-US" sz="1350" dirty="0"/>
          </a:p>
        </p:txBody>
      </p:sp>
      <p:sp>
        <p:nvSpPr>
          <p:cNvPr id="20" name="Text 12"/>
          <p:cNvSpPr/>
          <p:nvPr/>
        </p:nvSpPr>
        <p:spPr>
          <a:xfrm>
            <a:off x="4078962" y="520005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Maximizes profitability through pricing.</a:t>
            </a:r>
            <a:endParaRPr lang="en-US" sz="1050" dirty="0"/>
          </a:p>
        </p:txBody>
      </p:sp>
      <p:pic>
        <p:nvPicPr>
          <p:cNvPr id="21" name="Image 6" descr="preencoded.png">    </p:cNvPr>
          <p:cNvPicPr>
            <a:picLocks noChangeAspect="1"/>
          </p:cNvPicPr>
          <p:nvPr/>
        </p:nvPicPr>
        <p:blipFill>
          <a:blip r:embed="rId7"/>
          <a:stretch>
            <a:fillRect/>
          </a:stretch>
        </p:blipFill>
        <p:spPr>
          <a:xfrm>
            <a:off x="7418189" y="3558540"/>
            <a:ext cx="1897737" cy="1172885"/>
          </a:xfrm>
          <a:prstGeom prst="rect">
            <a:avLst/>
          </a:prstGeom>
        </p:spPr>
      </p:pic>
      <p:sp>
        <p:nvSpPr>
          <p:cNvPr id="22" name="Text 13"/>
          <p:cNvSpPr/>
          <p:nvPr/>
        </p:nvSpPr>
        <p:spPr>
          <a:xfrm>
            <a:off x="7418189" y="4903113"/>
            <a:ext cx="1985605"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Enhanced Customer Trust</a:t>
            </a:r>
            <a:endParaRPr lang="en-US" sz="1350" dirty="0"/>
          </a:p>
        </p:txBody>
      </p:sp>
      <p:sp>
        <p:nvSpPr>
          <p:cNvPr id="23" name="Text 14"/>
          <p:cNvSpPr/>
          <p:nvPr/>
        </p:nvSpPr>
        <p:spPr>
          <a:xfrm>
            <a:off x="7418189" y="520005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Builds confidence through fair pricing.</a:t>
            </a:r>
            <a:endParaRPr lang="en-US" sz="1050" dirty="0"/>
          </a:p>
        </p:txBody>
      </p:sp>
      <p:pic>
        <p:nvPicPr>
          <p:cNvPr id="24" name="Image 7" descr="preencoded.png">    </p:cNvPr>
          <p:cNvPicPr>
            <a:picLocks noChangeAspect="1"/>
          </p:cNvPicPr>
          <p:nvPr/>
        </p:nvPicPr>
        <p:blipFill>
          <a:blip r:embed="rId8"/>
          <a:stretch>
            <a:fillRect/>
          </a:stretch>
        </p:blipFill>
        <p:spPr>
          <a:xfrm>
            <a:off x="10757416" y="3558540"/>
            <a:ext cx="1897737" cy="1172885"/>
          </a:xfrm>
          <a:prstGeom prst="rect">
            <a:avLst/>
          </a:prstGeom>
        </p:spPr>
      </p:pic>
      <p:sp>
        <p:nvSpPr>
          <p:cNvPr id="25" name="Text 15"/>
          <p:cNvSpPr/>
          <p:nvPr/>
        </p:nvSpPr>
        <p:spPr>
          <a:xfrm>
            <a:off x="10757416" y="4903113"/>
            <a:ext cx="2764631"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Strategic Business Decision-Making</a:t>
            </a:r>
            <a:endParaRPr lang="en-US" sz="1350" dirty="0"/>
          </a:p>
        </p:txBody>
      </p:sp>
      <p:sp>
        <p:nvSpPr>
          <p:cNvPr id="26" name="Text 16"/>
          <p:cNvSpPr/>
          <p:nvPr/>
        </p:nvSpPr>
        <p:spPr>
          <a:xfrm>
            <a:off x="10757416" y="5200055"/>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Informs key business strategies.</a:t>
            </a:r>
            <a:endParaRPr lang="en-US" sz="1050" dirty="0"/>
          </a:p>
        </p:txBody>
      </p:sp>
      <p:pic>
        <p:nvPicPr>
          <p:cNvPr id="27" name="Image 8" descr="preencoded.png">    </p:cNvPr>
          <p:cNvPicPr>
            <a:picLocks noChangeAspect="1"/>
          </p:cNvPicPr>
          <p:nvPr/>
        </p:nvPicPr>
        <p:blipFill>
          <a:blip r:embed="rId9"/>
          <a:stretch>
            <a:fillRect/>
          </a:stretch>
        </p:blipFill>
        <p:spPr>
          <a:xfrm>
            <a:off x="739735" y="5831919"/>
            <a:ext cx="1897737" cy="1172885"/>
          </a:xfrm>
          <a:prstGeom prst="rect">
            <a:avLst/>
          </a:prstGeom>
        </p:spPr>
      </p:pic>
      <p:sp>
        <p:nvSpPr>
          <p:cNvPr id="28" name="Text 17"/>
          <p:cNvSpPr/>
          <p:nvPr/>
        </p:nvSpPr>
        <p:spPr>
          <a:xfrm>
            <a:off x="739735" y="7176492"/>
            <a:ext cx="1788557" cy="214551"/>
          </a:xfrm>
          <a:prstGeom prst="rect">
            <a:avLst/>
          </a:prstGeom>
          <a:noFill/>
          <a:ln/>
        </p:spPr>
        <p:txBody>
          <a:bodyPr wrap="none" lIns="0" tIns="0" rIns="0" bIns="0" rtlCol="0" anchor="t"/>
          <a:lstStyle/>
          <a:p>
            <a:pPr algn="l" indent="0" marL="0">
              <a:lnSpc>
                <a:spcPts val="1650"/>
              </a:lnSpc>
              <a:buNone/>
            </a:pPr>
            <a:r>
              <a:rPr lang="en-US" sz="1350" dirty="0">
                <a:solidFill>
                  <a:srgbClr val="CFD0D8"/>
                </a:solidFill>
                <a:latin typeface="Roboto Medium" pitchFamily="34" charset="0"/>
                <a:ea typeface="Roboto Medium" pitchFamily="34" charset="-122"/>
                <a:cs typeface="Roboto Medium" pitchFamily="34" charset="-120"/>
              </a:rPr>
              <a:t>Competitive Advantage</a:t>
            </a:r>
            <a:endParaRPr lang="en-US" sz="1350" dirty="0"/>
          </a:p>
        </p:txBody>
      </p:sp>
      <p:sp>
        <p:nvSpPr>
          <p:cNvPr id="29" name="Text 18"/>
          <p:cNvSpPr/>
          <p:nvPr/>
        </p:nvSpPr>
        <p:spPr>
          <a:xfrm>
            <a:off x="739735" y="7473434"/>
            <a:ext cx="3133249" cy="219789"/>
          </a:xfrm>
          <a:prstGeom prst="rect">
            <a:avLst/>
          </a:prstGeom>
          <a:noFill/>
          <a:ln/>
        </p:spPr>
        <p:txBody>
          <a:bodyPr wrap="none" lIns="0" tIns="0" rIns="0" bIns="0" rtlCol="0" anchor="t"/>
          <a:lstStyle/>
          <a:p>
            <a:pPr algn="l" indent="0" marL="0">
              <a:lnSpc>
                <a:spcPts val="1700"/>
              </a:lnSpc>
              <a:buNone/>
            </a:pPr>
            <a:r>
              <a:rPr lang="en-US" sz="1050" dirty="0">
                <a:solidFill>
                  <a:srgbClr val="CFD0D8"/>
                </a:solidFill>
                <a:latin typeface="Roboto" pitchFamily="34" charset="0"/>
                <a:ea typeface="Roboto" pitchFamily="34" charset="-122"/>
                <a:cs typeface="Roboto" pitchFamily="34" charset="-120"/>
              </a:rPr>
              <a:t>Secures a leading edge in the market.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624"/>
          </a:xfrm>
          <a:prstGeom prst="rect">
            <a:avLst/>
          </a:prstGeom>
        </p:spPr>
      </p:pic>
      <p:sp>
        <p:nvSpPr>
          <p:cNvPr id="3" name="Text 0"/>
          <p:cNvSpPr/>
          <p:nvPr/>
        </p:nvSpPr>
        <p:spPr>
          <a:xfrm>
            <a:off x="6190059" y="552807"/>
            <a:ext cx="5409962" cy="408384"/>
          </a:xfrm>
          <a:prstGeom prst="rect">
            <a:avLst/>
          </a:prstGeom>
          <a:noFill/>
          <a:ln/>
        </p:spPr>
        <p:txBody>
          <a:bodyPr wrap="none" lIns="0" tIns="0" rIns="0" bIns="0" rtlCol="0" anchor="t"/>
          <a:lstStyle/>
          <a:p>
            <a:pPr indent="0" marL="0">
              <a:lnSpc>
                <a:spcPts val="3200"/>
              </a:lnSpc>
              <a:buNone/>
            </a:pPr>
            <a:r>
              <a:rPr lang="en-US" sz="2550" dirty="0">
                <a:solidFill>
                  <a:srgbClr val="FFFFFF"/>
                </a:solidFill>
                <a:latin typeface="Roboto Medium" pitchFamily="34" charset="0"/>
                <a:ea typeface="Roboto Medium" pitchFamily="34" charset="-122"/>
                <a:cs typeface="Roboto Medium" pitchFamily="34" charset="-120"/>
              </a:rPr>
              <a:t>Tools, Technologies and Frameworks</a:t>
            </a:r>
            <a:endParaRPr lang="en-US" sz="2550" dirty="0"/>
          </a:p>
        </p:txBody>
      </p:sp>
      <p:sp>
        <p:nvSpPr>
          <p:cNvPr id="4" name="Shape 1"/>
          <p:cNvSpPr/>
          <p:nvPr/>
        </p:nvSpPr>
        <p:spPr>
          <a:xfrm>
            <a:off x="6190059" y="1157168"/>
            <a:ext cx="7736681" cy="2296835"/>
          </a:xfrm>
          <a:prstGeom prst="roundRect">
            <a:avLst>
              <a:gd name="adj" fmla="val 2390"/>
            </a:avLst>
          </a:prstGeom>
          <a:solidFill>
            <a:srgbClr val="182567"/>
          </a:solidFill>
          <a:ln w="7620">
            <a:solidFill>
              <a:srgbClr val="313E80"/>
            </a:solidFill>
            <a:prstDash val="solid"/>
          </a:ln>
        </p:spPr>
      </p:sp>
      <p:sp>
        <p:nvSpPr>
          <p:cNvPr id="5" name="Text 2"/>
          <p:cNvSpPr/>
          <p:nvPr/>
        </p:nvSpPr>
        <p:spPr>
          <a:xfrm>
            <a:off x="6328291" y="1295400"/>
            <a:ext cx="1633538" cy="204192"/>
          </a:xfrm>
          <a:prstGeom prst="rect">
            <a:avLst/>
          </a:prstGeom>
          <a:noFill/>
          <a:ln/>
        </p:spPr>
        <p:txBody>
          <a:bodyPr wrap="none" lIns="0" tIns="0" rIns="0" bIns="0" rtlCol="0" anchor="t"/>
          <a:lstStyle/>
          <a:p>
            <a:pPr indent="0" marL="0">
              <a:lnSpc>
                <a:spcPts val="1600"/>
              </a:lnSpc>
              <a:buNone/>
            </a:pPr>
            <a:r>
              <a:rPr lang="en-US" sz="1250" dirty="0">
                <a:solidFill>
                  <a:srgbClr val="CFD0D8"/>
                </a:solidFill>
                <a:latin typeface="Roboto Medium" pitchFamily="34" charset="0"/>
                <a:ea typeface="Roboto Medium" pitchFamily="34" charset="-122"/>
                <a:cs typeface="Roboto Medium" pitchFamily="34" charset="-120"/>
              </a:rPr>
              <a:t>Machine Learning</a:t>
            </a:r>
            <a:endParaRPr lang="en-US" sz="1250" dirty="0"/>
          </a:p>
        </p:txBody>
      </p:sp>
      <p:sp>
        <p:nvSpPr>
          <p:cNvPr id="6" name="Text 3"/>
          <p:cNvSpPr/>
          <p:nvPr/>
        </p:nvSpPr>
        <p:spPr>
          <a:xfrm>
            <a:off x="6328291" y="1577935"/>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Linear Regression</a:t>
            </a:r>
            <a:endParaRPr lang="en-US" sz="1000" dirty="0"/>
          </a:p>
        </p:txBody>
      </p:sp>
      <p:sp>
        <p:nvSpPr>
          <p:cNvPr id="7" name="Text 4"/>
          <p:cNvSpPr/>
          <p:nvPr/>
        </p:nvSpPr>
        <p:spPr>
          <a:xfrm>
            <a:off x="6328291" y="1832729"/>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Lasso (L1)</a:t>
            </a:r>
            <a:endParaRPr lang="en-US" sz="1000" dirty="0"/>
          </a:p>
        </p:txBody>
      </p:sp>
      <p:sp>
        <p:nvSpPr>
          <p:cNvPr id="8" name="Text 5"/>
          <p:cNvSpPr/>
          <p:nvPr/>
        </p:nvSpPr>
        <p:spPr>
          <a:xfrm>
            <a:off x="6328291" y="2087523"/>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Ridge (L2)</a:t>
            </a:r>
            <a:endParaRPr lang="en-US" sz="1000" dirty="0"/>
          </a:p>
        </p:txBody>
      </p:sp>
      <p:sp>
        <p:nvSpPr>
          <p:cNvPr id="9" name="Text 6"/>
          <p:cNvSpPr/>
          <p:nvPr/>
        </p:nvSpPr>
        <p:spPr>
          <a:xfrm>
            <a:off x="6328291" y="2342317"/>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SVM</a:t>
            </a:r>
            <a:endParaRPr lang="en-US" sz="1000" dirty="0"/>
          </a:p>
        </p:txBody>
      </p:sp>
      <p:sp>
        <p:nvSpPr>
          <p:cNvPr id="10" name="Text 7"/>
          <p:cNvSpPr/>
          <p:nvPr/>
        </p:nvSpPr>
        <p:spPr>
          <a:xfrm>
            <a:off x="6328291" y="2597110"/>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Decision Tree</a:t>
            </a:r>
            <a:endParaRPr lang="en-US" sz="1000" dirty="0"/>
          </a:p>
        </p:txBody>
      </p:sp>
      <p:sp>
        <p:nvSpPr>
          <p:cNvPr id="11" name="Text 8"/>
          <p:cNvSpPr/>
          <p:nvPr/>
        </p:nvSpPr>
        <p:spPr>
          <a:xfrm>
            <a:off x="6328291" y="2851904"/>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Random Forest</a:t>
            </a:r>
            <a:endParaRPr lang="en-US" sz="1000" dirty="0"/>
          </a:p>
        </p:txBody>
      </p:sp>
      <p:sp>
        <p:nvSpPr>
          <p:cNvPr id="12" name="Text 9"/>
          <p:cNvSpPr/>
          <p:nvPr/>
        </p:nvSpPr>
        <p:spPr>
          <a:xfrm>
            <a:off x="6328291" y="3106698"/>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Ensemble Methods</a:t>
            </a:r>
            <a:endParaRPr lang="en-US" sz="1000" dirty="0"/>
          </a:p>
        </p:txBody>
      </p:sp>
      <p:sp>
        <p:nvSpPr>
          <p:cNvPr id="13" name="Shape 10"/>
          <p:cNvSpPr/>
          <p:nvPr/>
        </p:nvSpPr>
        <p:spPr>
          <a:xfrm>
            <a:off x="6190059" y="3584615"/>
            <a:ext cx="7736681" cy="1787247"/>
          </a:xfrm>
          <a:prstGeom prst="roundRect">
            <a:avLst>
              <a:gd name="adj" fmla="val 3071"/>
            </a:avLst>
          </a:prstGeom>
          <a:solidFill>
            <a:srgbClr val="182567"/>
          </a:solidFill>
          <a:ln w="7620">
            <a:solidFill>
              <a:srgbClr val="313E80"/>
            </a:solidFill>
            <a:prstDash val="solid"/>
          </a:ln>
        </p:spPr>
      </p:sp>
      <p:sp>
        <p:nvSpPr>
          <p:cNvPr id="14" name="Text 11"/>
          <p:cNvSpPr/>
          <p:nvPr/>
        </p:nvSpPr>
        <p:spPr>
          <a:xfrm>
            <a:off x="6328291" y="3722846"/>
            <a:ext cx="1633538" cy="204192"/>
          </a:xfrm>
          <a:prstGeom prst="rect">
            <a:avLst/>
          </a:prstGeom>
          <a:noFill/>
          <a:ln/>
        </p:spPr>
        <p:txBody>
          <a:bodyPr wrap="none" lIns="0" tIns="0" rIns="0" bIns="0" rtlCol="0" anchor="t"/>
          <a:lstStyle/>
          <a:p>
            <a:pPr indent="0" marL="0">
              <a:lnSpc>
                <a:spcPts val="1600"/>
              </a:lnSpc>
              <a:buNone/>
            </a:pPr>
            <a:r>
              <a:rPr lang="en-US" sz="1250" dirty="0">
                <a:solidFill>
                  <a:srgbClr val="CFD0D8"/>
                </a:solidFill>
                <a:latin typeface="Roboto Medium" pitchFamily="34" charset="0"/>
                <a:ea typeface="Roboto Medium" pitchFamily="34" charset="-122"/>
                <a:cs typeface="Roboto Medium" pitchFamily="34" charset="-120"/>
              </a:rPr>
              <a:t>Data Analysis</a:t>
            </a:r>
            <a:endParaRPr lang="en-US" sz="1250" dirty="0"/>
          </a:p>
        </p:txBody>
      </p:sp>
      <p:sp>
        <p:nvSpPr>
          <p:cNvPr id="15" name="Text 12"/>
          <p:cNvSpPr/>
          <p:nvPr/>
        </p:nvSpPr>
        <p:spPr>
          <a:xfrm>
            <a:off x="6328291" y="4005382"/>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Python</a:t>
            </a:r>
            <a:endParaRPr lang="en-US" sz="1000" dirty="0"/>
          </a:p>
        </p:txBody>
      </p:sp>
      <p:sp>
        <p:nvSpPr>
          <p:cNvPr id="16" name="Text 13"/>
          <p:cNvSpPr/>
          <p:nvPr/>
        </p:nvSpPr>
        <p:spPr>
          <a:xfrm>
            <a:off x="6328291" y="4260175"/>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Pandas</a:t>
            </a:r>
            <a:endParaRPr lang="en-US" sz="1000" dirty="0"/>
          </a:p>
        </p:txBody>
      </p:sp>
      <p:sp>
        <p:nvSpPr>
          <p:cNvPr id="17" name="Text 14"/>
          <p:cNvSpPr/>
          <p:nvPr/>
        </p:nvSpPr>
        <p:spPr>
          <a:xfrm>
            <a:off x="6328291" y="4514969"/>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Numpy</a:t>
            </a:r>
            <a:endParaRPr lang="en-US" sz="1000" dirty="0"/>
          </a:p>
        </p:txBody>
      </p:sp>
      <p:sp>
        <p:nvSpPr>
          <p:cNvPr id="18" name="Text 15"/>
          <p:cNvSpPr/>
          <p:nvPr/>
        </p:nvSpPr>
        <p:spPr>
          <a:xfrm>
            <a:off x="6328291" y="4769763"/>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Matplotlib</a:t>
            </a:r>
            <a:endParaRPr lang="en-US" sz="1000" dirty="0"/>
          </a:p>
        </p:txBody>
      </p:sp>
      <p:sp>
        <p:nvSpPr>
          <p:cNvPr id="19" name="Text 16"/>
          <p:cNvSpPr/>
          <p:nvPr/>
        </p:nvSpPr>
        <p:spPr>
          <a:xfrm>
            <a:off x="6328291" y="5024557"/>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Seaborn</a:t>
            </a:r>
            <a:endParaRPr lang="en-US" sz="1000" dirty="0"/>
          </a:p>
        </p:txBody>
      </p:sp>
      <p:sp>
        <p:nvSpPr>
          <p:cNvPr id="20" name="Shape 17"/>
          <p:cNvSpPr/>
          <p:nvPr/>
        </p:nvSpPr>
        <p:spPr>
          <a:xfrm>
            <a:off x="6190059" y="5502473"/>
            <a:ext cx="7736681" cy="768072"/>
          </a:xfrm>
          <a:prstGeom prst="roundRect">
            <a:avLst>
              <a:gd name="adj" fmla="val 7146"/>
            </a:avLst>
          </a:prstGeom>
          <a:solidFill>
            <a:srgbClr val="182567"/>
          </a:solidFill>
          <a:ln w="7620">
            <a:solidFill>
              <a:srgbClr val="313E80"/>
            </a:solidFill>
            <a:prstDash val="solid"/>
          </a:ln>
        </p:spPr>
      </p:sp>
      <p:sp>
        <p:nvSpPr>
          <p:cNvPr id="21" name="Text 18"/>
          <p:cNvSpPr/>
          <p:nvPr/>
        </p:nvSpPr>
        <p:spPr>
          <a:xfrm>
            <a:off x="6328291" y="5640705"/>
            <a:ext cx="1633538" cy="204192"/>
          </a:xfrm>
          <a:prstGeom prst="rect">
            <a:avLst/>
          </a:prstGeom>
          <a:noFill/>
          <a:ln/>
        </p:spPr>
        <p:txBody>
          <a:bodyPr wrap="none" lIns="0" tIns="0" rIns="0" bIns="0" rtlCol="0" anchor="t"/>
          <a:lstStyle/>
          <a:p>
            <a:pPr indent="0" marL="0">
              <a:lnSpc>
                <a:spcPts val="1600"/>
              </a:lnSpc>
              <a:buNone/>
            </a:pPr>
            <a:r>
              <a:rPr lang="en-US" sz="1250" dirty="0">
                <a:solidFill>
                  <a:srgbClr val="CFD0D8"/>
                </a:solidFill>
                <a:latin typeface="Roboto Medium" pitchFamily="34" charset="0"/>
                <a:ea typeface="Roboto Medium" pitchFamily="34" charset="-122"/>
                <a:cs typeface="Roboto Medium" pitchFamily="34" charset="-120"/>
              </a:rPr>
              <a:t>Model Deployment</a:t>
            </a:r>
            <a:endParaRPr lang="en-US" sz="1250" dirty="0"/>
          </a:p>
        </p:txBody>
      </p:sp>
      <p:sp>
        <p:nvSpPr>
          <p:cNvPr id="22" name="Text 19"/>
          <p:cNvSpPr/>
          <p:nvPr/>
        </p:nvSpPr>
        <p:spPr>
          <a:xfrm>
            <a:off x="6328291" y="5923240"/>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Streamlit</a:t>
            </a:r>
            <a:endParaRPr lang="en-US" sz="1000" dirty="0"/>
          </a:p>
        </p:txBody>
      </p:sp>
      <p:sp>
        <p:nvSpPr>
          <p:cNvPr id="23" name="Shape 20"/>
          <p:cNvSpPr/>
          <p:nvPr/>
        </p:nvSpPr>
        <p:spPr>
          <a:xfrm>
            <a:off x="6190059" y="6401157"/>
            <a:ext cx="7736681" cy="1277660"/>
          </a:xfrm>
          <a:prstGeom prst="roundRect">
            <a:avLst>
              <a:gd name="adj" fmla="val 4296"/>
            </a:avLst>
          </a:prstGeom>
          <a:solidFill>
            <a:srgbClr val="182567"/>
          </a:solidFill>
          <a:ln w="7620">
            <a:solidFill>
              <a:srgbClr val="313E80"/>
            </a:solidFill>
            <a:prstDash val="solid"/>
          </a:ln>
        </p:spPr>
      </p:sp>
      <p:sp>
        <p:nvSpPr>
          <p:cNvPr id="24" name="Text 21"/>
          <p:cNvSpPr/>
          <p:nvPr/>
        </p:nvSpPr>
        <p:spPr>
          <a:xfrm>
            <a:off x="6328291" y="6539389"/>
            <a:ext cx="1633538" cy="204192"/>
          </a:xfrm>
          <a:prstGeom prst="rect">
            <a:avLst/>
          </a:prstGeom>
          <a:noFill/>
          <a:ln/>
        </p:spPr>
        <p:txBody>
          <a:bodyPr wrap="none" lIns="0" tIns="0" rIns="0" bIns="0" rtlCol="0" anchor="t"/>
          <a:lstStyle/>
          <a:p>
            <a:pPr indent="0" marL="0">
              <a:lnSpc>
                <a:spcPts val="1600"/>
              </a:lnSpc>
              <a:buNone/>
            </a:pPr>
            <a:r>
              <a:rPr lang="en-US" sz="1250" dirty="0">
                <a:solidFill>
                  <a:srgbClr val="CFD0D8"/>
                </a:solidFill>
                <a:latin typeface="Roboto Medium" pitchFamily="34" charset="0"/>
                <a:ea typeface="Roboto Medium" pitchFamily="34" charset="-122"/>
                <a:cs typeface="Roboto Medium" pitchFamily="34" charset="-120"/>
              </a:rPr>
              <a:t>Libraries</a:t>
            </a:r>
            <a:endParaRPr lang="en-US" sz="1250" dirty="0"/>
          </a:p>
        </p:txBody>
      </p:sp>
      <p:sp>
        <p:nvSpPr>
          <p:cNvPr id="25" name="Text 22"/>
          <p:cNvSpPr/>
          <p:nvPr/>
        </p:nvSpPr>
        <p:spPr>
          <a:xfrm>
            <a:off x="6328291" y="6821924"/>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Scikit-learn</a:t>
            </a:r>
            <a:endParaRPr lang="en-US" sz="1000" dirty="0"/>
          </a:p>
        </p:txBody>
      </p:sp>
      <p:sp>
        <p:nvSpPr>
          <p:cNvPr id="26" name="Text 23"/>
          <p:cNvSpPr/>
          <p:nvPr/>
        </p:nvSpPr>
        <p:spPr>
          <a:xfrm>
            <a:off x="6328291" y="7076718"/>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XGBoost</a:t>
            </a:r>
            <a:endParaRPr lang="en-US" sz="1000" dirty="0"/>
          </a:p>
        </p:txBody>
      </p:sp>
      <p:sp>
        <p:nvSpPr>
          <p:cNvPr id="27" name="Text 24"/>
          <p:cNvSpPr/>
          <p:nvPr/>
        </p:nvSpPr>
        <p:spPr>
          <a:xfrm>
            <a:off x="6328291" y="7331512"/>
            <a:ext cx="7460218" cy="209074"/>
          </a:xfrm>
          <a:prstGeom prst="rect">
            <a:avLst/>
          </a:prstGeom>
          <a:noFill/>
          <a:ln/>
        </p:spPr>
        <p:txBody>
          <a:bodyPr wrap="none" lIns="0" tIns="0" rIns="0" bIns="0" rtlCol="0" anchor="t"/>
          <a:lstStyle/>
          <a:p>
            <a:pPr marL="342900" indent="-342900">
              <a:lnSpc>
                <a:spcPts val="1600"/>
              </a:lnSpc>
              <a:buSzPct val="100000"/>
              <a:buChar char="•"/>
            </a:pPr>
            <a:r>
              <a:rPr lang="en-US" sz="1000" dirty="0">
                <a:solidFill>
                  <a:srgbClr val="CFD0D8"/>
                </a:solidFill>
                <a:latin typeface="Roboto" pitchFamily="34" charset="0"/>
                <a:ea typeface="Roboto" pitchFamily="34" charset="-122"/>
                <a:cs typeface="Roboto" pitchFamily="34" charset="-120"/>
              </a:rPr>
              <a:t>LightGBM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38657"/>
            <a:ext cx="10979706"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Model Evaluation &amp; Hyperparameter Tuning</a:t>
            </a:r>
            <a:endParaRPr lang="en-US" sz="4450" dirty="0"/>
          </a:p>
        </p:txBody>
      </p:sp>
      <p:sp>
        <p:nvSpPr>
          <p:cNvPr id="3" name="Text 1"/>
          <p:cNvSpPr/>
          <p:nvPr/>
        </p:nvSpPr>
        <p:spPr>
          <a:xfrm>
            <a:off x="793790" y="2914412"/>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Roboto Medium" pitchFamily="34" charset="0"/>
                <a:ea typeface="Roboto Medium" pitchFamily="34" charset="-122"/>
                <a:cs typeface="Roboto Medium" pitchFamily="34" charset="-120"/>
              </a:rPr>
              <a:t>Model Evaluation:</a:t>
            </a:r>
            <a:endParaRPr lang="en-US" sz="2200" dirty="0"/>
          </a:p>
        </p:txBody>
      </p:sp>
      <p:sp>
        <p:nvSpPr>
          <p:cNvPr id="4" name="Text 2"/>
          <p:cNvSpPr/>
          <p:nvPr/>
        </p:nvSpPr>
        <p:spPr>
          <a:xfrm>
            <a:off x="793790" y="3495556"/>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1"/>
            </a:pPr>
            <a:r>
              <a:rPr lang="en-US" sz="1750" dirty="0">
                <a:solidFill>
                  <a:srgbClr val="CFD0D8"/>
                </a:solidFill>
                <a:latin typeface="Roboto" pitchFamily="34" charset="0"/>
                <a:ea typeface="Roboto" pitchFamily="34" charset="-122"/>
                <a:cs typeface="Roboto" pitchFamily="34" charset="-120"/>
              </a:rPr>
              <a:t>Linear Regression</a:t>
            </a:r>
            <a:endParaRPr lang="en-US" sz="1750" dirty="0"/>
          </a:p>
        </p:txBody>
      </p:sp>
      <p:sp>
        <p:nvSpPr>
          <p:cNvPr id="5" name="Text 3"/>
          <p:cNvSpPr/>
          <p:nvPr/>
        </p:nvSpPr>
        <p:spPr>
          <a:xfrm>
            <a:off x="793790" y="3937754"/>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2"/>
            </a:pPr>
            <a:r>
              <a:rPr lang="en-US" sz="1750" dirty="0">
                <a:solidFill>
                  <a:srgbClr val="CFD0D8"/>
                </a:solidFill>
                <a:latin typeface="Roboto" pitchFamily="34" charset="0"/>
                <a:ea typeface="Roboto" pitchFamily="34" charset="-122"/>
                <a:cs typeface="Roboto" pitchFamily="34" charset="-120"/>
              </a:rPr>
              <a:t>Decision Tree</a:t>
            </a:r>
            <a:endParaRPr lang="en-US" sz="1750" dirty="0"/>
          </a:p>
        </p:txBody>
      </p:sp>
      <p:sp>
        <p:nvSpPr>
          <p:cNvPr id="6" name="Text 4"/>
          <p:cNvSpPr/>
          <p:nvPr/>
        </p:nvSpPr>
        <p:spPr>
          <a:xfrm>
            <a:off x="793790" y="4379952"/>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3"/>
            </a:pPr>
            <a:r>
              <a:rPr lang="en-US" sz="1750" dirty="0">
                <a:solidFill>
                  <a:srgbClr val="CFD0D8"/>
                </a:solidFill>
                <a:latin typeface="Roboto" pitchFamily="34" charset="0"/>
                <a:ea typeface="Roboto" pitchFamily="34" charset="-122"/>
                <a:cs typeface="Roboto" pitchFamily="34" charset="-120"/>
              </a:rPr>
              <a:t>Random Forest</a:t>
            </a:r>
            <a:endParaRPr lang="en-US" sz="1750" dirty="0"/>
          </a:p>
        </p:txBody>
      </p:sp>
      <p:sp>
        <p:nvSpPr>
          <p:cNvPr id="7" name="Text 5"/>
          <p:cNvSpPr/>
          <p:nvPr/>
        </p:nvSpPr>
        <p:spPr>
          <a:xfrm>
            <a:off x="793790" y="4822150"/>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4"/>
            </a:pPr>
            <a:r>
              <a:rPr lang="en-US" sz="1750" dirty="0">
                <a:solidFill>
                  <a:srgbClr val="CFD0D8"/>
                </a:solidFill>
                <a:latin typeface="Roboto" pitchFamily="34" charset="0"/>
                <a:ea typeface="Roboto" pitchFamily="34" charset="-122"/>
                <a:cs typeface="Roboto" pitchFamily="34" charset="-120"/>
              </a:rPr>
              <a:t>L1 (Lasso)</a:t>
            </a:r>
            <a:endParaRPr lang="en-US" sz="1750" dirty="0"/>
          </a:p>
        </p:txBody>
      </p:sp>
      <p:sp>
        <p:nvSpPr>
          <p:cNvPr id="8" name="Text 6"/>
          <p:cNvSpPr/>
          <p:nvPr/>
        </p:nvSpPr>
        <p:spPr>
          <a:xfrm>
            <a:off x="793790" y="5264348"/>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5"/>
            </a:pPr>
            <a:r>
              <a:rPr lang="en-US" sz="1750" dirty="0">
                <a:solidFill>
                  <a:srgbClr val="CFD0D8"/>
                </a:solidFill>
                <a:latin typeface="Roboto" pitchFamily="34" charset="0"/>
                <a:ea typeface="Roboto" pitchFamily="34" charset="-122"/>
                <a:cs typeface="Roboto" pitchFamily="34" charset="-120"/>
              </a:rPr>
              <a:t>L2 (Ridge)</a:t>
            </a:r>
            <a:endParaRPr lang="en-US" sz="1750" dirty="0"/>
          </a:p>
        </p:txBody>
      </p:sp>
      <p:sp>
        <p:nvSpPr>
          <p:cNvPr id="9" name="Text 7"/>
          <p:cNvSpPr/>
          <p:nvPr/>
        </p:nvSpPr>
        <p:spPr>
          <a:xfrm>
            <a:off x="793790" y="5706547"/>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6"/>
            </a:pPr>
            <a:r>
              <a:rPr lang="en-US" sz="1750" dirty="0">
                <a:solidFill>
                  <a:srgbClr val="CFD0D8"/>
                </a:solidFill>
                <a:latin typeface="Roboto" pitchFamily="34" charset="0"/>
                <a:ea typeface="Roboto" pitchFamily="34" charset="-122"/>
                <a:cs typeface="Roboto" pitchFamily="34" charset="-120"/>
              </a:rPr>
              <a:t>SVM</a:t>
            </a:r>
            <a:endParaRPr lang="en-US" sz="1750" dirty="0"/>
          </a:p>
        </p:txBody>
      </p:sp>
      <p:sp>
        <p:nvSpPr>
          <p:cNvPr id="10" name="Text 8"/>
          <p:cNvSpPr/>
          <p:nvPr/>
        </p:nvSpPr>
        <p:spPr>
          <a:xfrm>
            <a:off x="793790" y="6148745"/>
            <a:ext cx="6244709" cy="362903"/>
          </a:xfrm>
          <a:prstGeom prst="rect">
            <a:avLst/>
          </a:prstGeom>
          <a:noFill/>
          <a:ln/>
        </p:spPr>
        <p:txBody>
          <a:bodyPr wrap="none" lIns="0" tIns="0" rIns="0" bIns="0" rtlCol="0" anchor="t"/>
          <a:lstStyle/>
          <a:p>
            <a:pPr marL="342900" indent="-342900">
              <a:lnSpc>
                <a:spcPts val="2850"/>
              </a:lnSpc>
              <a:buSzPct val="100000"/>
              <a:buFont typeface="+mj-lt"/>
              <a:buAutoNum type="arabicPeriod" startAt="7"/>
            </a:pPr>
            <a:r>
              <a:rPr lang="en-US" sz="1750" dirty="0">
                <a:solidFill>
                  <a:srgbClr val="CFD0D8"/>
                </a:solidFill>
                <a:latin typeface="Roboto" pitchFamily="34" charset="0"/>
                <a:ea typeface="Roboto" pitchFamily="34" charset="-122"/>
                <a:cs typeface="Roboto" pitchFamily="34" charset="-120"/>
              </a:rPr>
              <a:t>Ensemble Methods</a:t>
            </a:r>
            <a:endParaRPr lang="en-US" sz="1750" dirty="0"/>
          </a:p>
        </p:txBody>
      </p:sp>
      <p:sp>
        <p:nvSpPr>
          <p:cNvPr id="11" name="Text 9"/>
          <p:cNvSpPr/>
          <p:nvPr/>
        </p:nvSpPr>
        <p:spPr>
          <a:xfrm>
            <a:off x="7599521" y="2914412"/>
            <a:ext cx="3061573"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Roboto Medium" pitchFamily="34" charset="0"/>
                <a:ea typeface="Roboto Medium" pitchFamily="34" charset="-122"/>
                <a:cs typeface="Roboto Medium" pitchFamily="34" charset="-120"/>
              </a:rPr>
              <a:t>Hyperparameter Tuning:</a:t>
            </a:r>
            <a:endParaRPr lang="en-US" sz="2200" dirty="0"/>
          </a:p>
        </p:txBody>
      </p:sp>
      <p:sp>
        <p:nvSpPr>
          <p:cNvPr id="12" name="Text 10"/>
          <p:cNvSpPr/>
          <p:nvPr/>
        </p:nvSpPr>
        <p:spPr>
          <a:xfrm>
            <a:off x="7599521" y="3495556"/>
            <a:ext cx="6244709" cy="725805"/>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Decision Tree (max\_depth, min\_samples\_split, min\_samples\_leaf)</a:t>
            </a:r>
            <a:endParaRPr lang="en-US" sz="1750" dirty="0"/>
          </a:p>
        </p:txBody>
      </p:sp>
      <p:sp>
        <p:nvSpPr>
          <p:cNvPr id="13" name="Text 11"/>
          <p:cNvSpPr/>
          <p:nvPr/>
        </p:nvSpPr>
        <p:spPr>
          <a:xfrm>
            <a:off x="7599521" y="4300657"/>
            <a:ext cx="6244709" cy="725805"/>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Random Forest (n\_estimators, max\_depth, min\_samples\_split)</a:t>
            </a:r>
            <a:endParaRPr lang="en-US" sz="1750" dirty="0"/>
          </a:p>
        </p:txBody>
      </p:sp>
      <p:sp>
        <p:nvSpPr>
          <p:cNvPr id="14" name="Text 12"/>
          <p:cNvSpPr/>
          <p:nvPr/>
        </p:nvSpPr>
        <p:spPr>
          <a:xfrm>
            <a:off x="7599521" y="5105757"/>
            <a:ext cx="6244709" cy="362903"/>
          </a:xfrm>
          <a:prstGeom prst="rect">
            <a:avLst/>
          </a:prstGeom>
          <a:noFill/>
          <a:ln/>
        </p:spPr>
        <p:txBody>
          <a:bodyPr wrap="none" lIns="0" tIns="0" rIns="0" bIns="0" rtlCol="0" anchor="t"/>
          <a:lstStyle/>
          <a:p>
            <a:pPr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SVM (C, Kernel, Gamma)</a:t>
            </a:r>
            <a:endParaRPr lang="en-US" sz="1750" dirty="0"/>
          </a:p>
        </p:txBody>
      </p:sp>
      <p:sp>
        <p:nvSpPr>
          <p:cNvPr id="15" name="Text 13"/>
          <p:cNvSpPr/>
          <p:nvPr/>
        </p:nvSpPr>
        <p:spPr>
          <a:xfrm>
            <a:off x="7599521" y="5547955"/>
            <a:ext cx="6244709" cy="725805"/>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Ensemble Methods (learning\_rate, n\_estimators, max\_depth, subsample)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21055"/>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Data Visualization</a:t>
            </a:r>
            <a:endParaRPr lang="en-US" sz="4450" dirty="0"/>
          </a:p>
        </p:txBody>
      </p:sp>
      <p:pic>
        <p:nvPicPr>
          <p:cNvPr id="3" name="Image 0" descr="preencoded.png">    </p:cNvPr>
          <p:cNvPicPr>
            <a:picLocks noChangeAspect="1"/>
          </p:cNvPicPr>
          <p:nvPr/>
        </p:nvPicPr>
        <p:blipFill>
          <a:blip r:embed="rId1"/>
          <a:stretch>
            <a:fillRect/>
          </a:stretch>
        </p:blipFill>
        <p:spPr>
          <a:xfrm>
            <a:off x="793790" y="1983462"/>
            <a:ext cx="6351270" cy="3925372"/>
          </a:xfrm>
          <a:prstGeom prst="rect">
            <a:avLst/>
          </a:prstGeom>
        </p:spPr>
      </p:pic>
      <p:sp>
        <p:nvSpPr>
          <p:cNvPr id="4" name="Text 1"/>
          <p:cNvSpPr/>
          <p:nvPr/>
        </p:nvSpPr>
        <p:spPr>
          <a:xfrm>
            <a:off x="793790" y="6192322"/>
            <a:ext cx="3567351"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Distribution of Door Number</a:t>
            </a:r>
            <a:endParaRPr lang="en-US" sz="2200" dirty="0"/>
          </a:p>
        </p:txBody>
      </p:sp>
      <p:sp>
        <p:nvSpPr>
          <p:cNvPr id="5" name="Text 2"/>
          <p:cNvSpPr/>
          <p:nvPr/>
        </p:nvSpPr>
        <p:spPr>
          <a:xfrm>
            <a:off x="793790" y="6682740"/>
            <a:ext cx="6351270"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Visualizing the frequency of different door numbers in our dataset.</a:t>
            </a:r>
            <a:endParaRPr lang="en-US" sz="1750" dirty="0"/>
          </a:p>
        </p:txBody>
      </p:sp>
      <p:pic>
        <p:nvPicPr>
          <p:cNvPr id="6" name="Image 1" descr="preencoded.png">    </p:cNvPr>
          <p:cNvPicPr>
            <a:picLocks noChangeAspect="1"/>
          </p:cNvPicPr>
          <p:nvPr/>
        </p:nvPicPr>
        <p:blipFill>
          <a:blip r:embed="rId2"/>
          <a:stretch>
            <a:fillRect/>
          </a:stretch>
        </p:blipFill>
        <p:spPr>
          <a:xfrm>
            <a:off x="7485221" y="1983462"/>
            <a:ext cx="6351389" cy="3925372"/>
          </a:xfrm>
          <a:prstGeom prst="rect">
            <a:avLst/>
          </a:prstGeom>
        </p:spPr>
      </p:pic>
      <p:sp>
        <p:nvSpPr>
          <p:cNvPr id="7" name="Text 3"/>
          <p:cNvSpPr/>
          <p:nvPr/>
        </p:nvSpPr>
        <p:spPr>
          <a:xfrm>
            <a:off x="7485221" y="6192322"/>
            <a:ext cx="3374588"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Distribution of Drive Wheel</a:t>
            </a:r>
            <a:endParaRPr lang="en-US" sz="2200" dirty="0"/>
          </a:p>
        </p:txBody>
      </p:sp>
      <p:sp>
        <p:nvSpPr>
          <p:cNvPr id="8" name="Text 4"/>
          <p:cNvSpPr/>
          <p:nvPr/>
        </p:nvSpPr>
        <p:spPr>
          <a:xfrm>
            <a:off x="7485221" y="6682740"/>
            <a:ext cx="6351389"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Exploring the prevalence of various drive wheel configurations.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4252913"/>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5009555" y="283488"/>
            <a:ext cx="4611291" cy="3685937"/>
          </a:xfrm>
          <a:prstGeom prst="rect">
            <a:avLst/>
          </a:prstGeom>
        </p:spPr>
      </p:pic>
      <p:sp>
        <p:nvSpPr>
          <p:cNvPr id="4" name="Text 1"/>
          <p:cNvSpPr/>
          <p:nvPr/>
        </p:nvSpPr>
        <p:spPr>
          <a:xfrm>
            <a:off x="793790" y="5353883"/>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Heatmap</a:t>
            </a:r>
            <a:endParaRPr lang="en-US" sz="4450" dirty="0"/>
          </a:p>
        </p:txBody>
      </p:sp>
      <p:sp>
        <p:nvSpPr>
          <p:cNvPr id="5" name="Text 2"/>
          <p:cNvSpPr/>
          <p:nvPr/>
        </p:nvSpPr>
        <p:spPr>
          <a:xfrm>
            <a:off x="793790" y="6402824"/>
            <a:ext cx="13042821" cy="725805"/>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The heatmap visually represents the correlation between different features in the dataset. This helps to identify the strength and direction of the relationships between variables.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94993"/>
            <a:ext cx="7257931" cy="637937"/>
          </a:xfrm>
          <a:prstGeom prst="rect">
            <a:avLst/>
          </a:prstGeom>
          <a:noFill/>
          <a:ln/>
        </p:spPr>
        <p:txBody>
          <a:bodyPr wrap="none" lIns="0" tIns="0" rIns="0" bIns="0" rtlCol="0" anchor="t"/>
          <a:lstStyle/>
          <a:p>
            <a:pPr indent="0" marL="0">
              <a:lnSpc>
                <a:spcPts val="5000"/>
              </a:lnSpc>
              <a:buNone/>
            </a:pPr>
            <a:r>
              <a:rPr lang="en-US" sz="4000" dirty="0">
                <a:solidFill>
                  <a:srgbClr val="FFFFFF"/>
                </a:solidFill>
                <a:latin typeface="Roboto Medium" pitchFamily="34" charset="0"/>
                <a:ea typeface="Roboto Medium" pitchFamily="34" charset="-122"/>
                <a:cs typeface="Roboto Medium" pitchFamily="34" charset="-120"/>
              </a:rPr>
              <a:t>Exploratory Data Analysis (EDA)</a:t>
            </a:r>
            <a:endParaRPr lang="en-US" sz="4000" dirty="0"/>
          </a:p>
        </p:txBody>
      </p:sp>
      <p:pic>
        <p:nvPicPr>
          <p:cNvPr id="3" name="Image 0" descr="preencoded.png">    </p:cNvPr>
          <p:cNvPicPr>
            <a:picLocks noChangeAspect="1"/>
          </p:cNvPicPr>
          <p:nvPr/>
        </p:nvPicPr>
        <p:blipFill>
          <a:blip r:embed="rId1"/>
          <a:stretch>
            <a:fillRect/>
          </a:stretch>
        </p:blipFill>
        <p:spPr>
          <a:xfrm>
            <a:off x="793790" y="1941195"/>
            <a:ext cx="3228022" cy="2469356"/>
          </a:xfrm>
          <a:prstGeom prst="rect">
            <a:avLst/>
          </a:prstGeom>
        </p:spPr>
      </p:pic>
      <p:pic>
        <p:nvPicPr>
          <p:cNvPr id="4" name="Image 1" descr="preencoded.png">    </p:cNvPr>
          <p:cNvPicPr>
            <a:picLocks noChangeAspect="1"/>
          </p:cNvPicPr>
          <p:nvPr/>
        </p:nvPicPr>
        <p:blipFill>
          <a:blip r:embed="rId2"/>
          <a:stretch>
            <a:fillRect/>
          </a:stretch>
        </p:blipFill>
        <p:spPr>
          <a:xfrm>
            <a:off x="793790" y="4640104"/>
            <a:ext cx="510302" cy="510302"/>
          </a:xfrm>
          <a:prstGeom prst="rect">
            <a:avLst/>
          </a:prstGeom>
        </p:spPr>
      </p:pic>
      <p:sp>
        <p:nvSpPr>
          <p:cNvPr id="5" name="Text 1"/>
          <p:cNvSpPr/>
          <p:nvPr/>
        </p:nvSpPr>
        <p:spPr>
          <a:xfrm>
            <a:off x="793790" y="5354479"/>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Engine Size and Price</a:t>
            </a:r>
            <a:endParaRPr lang="en-US" sz="1600" dirty="0"/>
          </a:p>
        </p:txBody>
      </p:sp>
      <p:pic>
        <p:nvPicPr>
          <p:cNvPr id="6" name="Image 2" descr="preencoded.png">    </p:cNvPr>
          <p:cNvPicPr>
            <a:picLocks noChangeAspect="1"/>
          </p:cNvPicPr>
          <p:nvPr/>
        </p:nvPicPr>
        <p:blipFill>
          <a:blip r:embed="rId3"/>
          <a:stretch>
            <a:fillRect/>
          </a:stretch>
        </p:blipFill>
        <p:spPr>
          <a:xfrm>
            <a:off x="4130993" y="4640104"/>
            <a:ext cx="510302" cy="510302"/>
          </a:xfrm>
          <a:prstGeom prst="rect">
            <a:avLst/>
          </a:prstGeom>
        </p:spPr>
      </p:pic>
      <p:sp>
        <p:nvSpPr>
          <p:cNvPr id="7" name="Text 2"/>
          <p:cNvSpPr/>
          <p:nvPr/>
        </p:nvSpPr>
        <p:spPr>
          <a:xfrm>
            <a:off x="4130993" y="5354479"/>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Fuel Efficiency</a:t>
            </a:r>
            <a:endParaRPr lang="en-US" sz="1600" dirty="0"/>
          </a:p>
        </p:txBody>
      </p:sp>
      <p:pic>
        <p:nvPicPr>
          <p:cNvPr id="8" name="Image 3" descr="preencoded.png">    </p:cNvPr>
          <p:cNvPicPr>
            <a:picLocks noChangeAspect="1"/>
          </p:cNvPicPr>
          <p:nvPr/>
        </p:nvPicPr>
        <p:blipFill>
          <a:blip r:embed="rId4"/>
          <a:stretch>
            <a:fillRect/>
          </a:stretch>
        </p:blipFill>
        <p:spPr>
          <a:xfrm>
            <a:off x="7468195" y="4640104"/>
            <a:ext cx="510302" cy="510302"/>
          </a:xfrm>
          <a:prstGeom prst="rect">
            <a:avLst/>
          </a:prstGeom>
        </p:spPr>
      </p:pic>
      <p:sp>
        <p:nvSpPr>
          <p:cNvPr id="9" name="Text 3"/>
          <p:cNvSpPr/>
          <p:nvPr/>
        </p:nvSpPr>
        <p:spPr>
          <a:xfrm>
            <a:off x="7468195" y="5354479"/>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Horsepower and City Mileage</a:t>
            </a:r>
            <a:endParaRPr lang="en-US" sz="1600" dirty="0"/>
          </a:p>
        </p:txBody>
      </p:sp>
      <p:pic>
        <p:nvPicPr>
          <p:cNvPr id="10" name="Image 4" descr="preencoded.png">    </p:cNvPr>
          <p:cNvPicPr>
            <a:picLocks noChangeAspect="1"/>
          </p:cNvPicPr>
          <p:nvPr/>
        </p:nvPicPr>
        <p:blipFill>
          <a:blip r:embed="rId5"/>
          <a:stretch>
            <a:fillRect/>
          </a:stretch>
        </p:blipFill>
        <p:spPr>
          <a:xfrm>
            <a:off x="10805398" y="4640104"/>
            <a:ext cx="510302" cy="510302"/>
          </a:xfrm>
          <a:prstGeom prst="rect">
            <a:avLst/>
          </a:prstGeom>
        </p:spPr>
      </p:pic>
      <p:sp>
        <p:nvSpPr>
          <p:cNvPr id="11" name="Text 4"/>
          <p:cNvSpPr/>
          <p:nvPr/>
        </p:nvSpPr>
        <p:spPr>
          <a:xfrm>
            <a:off x="10805398" y="5354479"/>
            <a:ext cx="3031212"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Drive wheel Configuration</a:t>
            </a:r>
            <a:endParaRPr lang="en-US" sz="1600" dirty="0"/>
          </a:p>
        </p:txBody>
      </p:sp>
      <p:pic>
        <p:nvPicPr>
          <p:cNvPr id="12" name="Image 5" descr="preencoded.png">    </p:cNvPr>
          <p:cNvPicPr>
            <a:picLocks noChangeAspect="1"/>
          </p:cNvPicPr>
          <p:nvPr/>
        </p:nvPicPr>
        <p:blipFill>
          <a:blip r:embed="rId6"/>
          <a:stretch>
            <a:fillRect/>
          </a:stretch>
        </p:blipFill>
        <p:spPr>
          <a:xfrm>
            <a:off x="793790" y="6293525"/>
            <a:ext cx="510302" cy="510302"/>
          </a:xfrm>
          <a:prstGeom prst="rect">
            <a:avLst/>
          </a:prstGeom>
        </p:spPr>
      </p:pic>
      <p:sp>
        <p:nvSpPr>
          <p:cNvPr id="13" name="Text 5"/>
          <p:cNvSpPr/>
          <p:nvPr/>
        </p:nvSpPr>
        <p:spPr>
          <a:xfrm>
            <a:off x="793790" y="7007900"/>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Weight and Acceleration</a:t>
            </a:r>
            <a:endParaRPr lang="en-US" sz="1600" dirty="0"/>
          </a:p>
        </p:txBody>
      </p:sp>
      <p:pic>
        <p:nvPicPr>
          <p:cNvPr id="14" name="Image 6" descr="preencoded.png">    </p:cNvPr>
          <p:cNvPicPr>
            <a:picLocks noChangeAspect="1"/>
          </p:cNvPicPr>
          <p:nvPr/>
        </p:nvPicPr>
        <p:blipFill>
          <a:blip r:embed="rId7"/>
          <a:stretch>
            <a:fillRect/>
          </a:stretch>
        </p:blipFill>
        <p:spPr>
          <a:xfrm>
            <a:off x="4130993" y="6293525"/>
            <a:ext cx="510302" cy="510302"/>
          </a:xfrm>
          <a:prstGeom prst="rect">
            <a:avLst/>
          </a:prstGeom>
        </p:spPr>
      </p:pic>
      <p:sp>
        <p:nvSpPr>
          <p:cNvPr id="15" name="Text 6"/>
          <p:cNvSpPr/>
          <p:nvPr/>
        </p:nvSpPr>
        <p:spPr>
          <a:xfrm>
            <a:off x="4130993" y="7007900"/>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Car Body and Price</a:t>
            </a:r>
            <a:endParaRPr lang="en-US" sz="1600" dirty="0"/>
          </a:p>
        </p:txBody>
      </p:sp>
      <p:pic>
        <p:nvPicPr>
          <p:cNvPr id="16" name="Image 7" descr="preencoded.png">    </p:cNvPr>
          <p:cNvPicPr>
            <a:picLocks noChangeAspect="1"/>
          </p:cNvPicPr>
          <p:nvPr/>
        </p:nvPicPr>
        <p:blipFill>
          <a:blip r:embed="rId8"/>
          <a:stretch>
            <a:fillRect/>
          </a:stretch>
        </p:blipFill>
        <p:spPr>
          <a:xfrm>
            <a:off x="7468195" y="6293525"/>
            <a:ext cx="510302" cy="510302"/>
          </a:xfrm>
          <a:prstGeom prst="rect">
            <a:avLst/>
          </a:prstGeom>
        </p:spPr>
      </p:pic>
      <p:sp>
        <p:nvSpPr>
          <p:cNvPr id="17" name="Text 7"/>
          <p:cNvSpPr/>
          <p:nvPr/>
        </p:nvSpPr>
        <p:spPr>
          <a:xfrm>
            <a:off x="7468195" y="7007900"/>
            <a:ext cx="3031093" cy="326708"/>
          </a:xfrm>
          <a:prstGeom prst="rect">
            <a:avLst/>
          </a:prstGeom>
          <a:noFill/>
          <a:ln/>
        </p:spPr>
        <p:txBody>
          <a:bodyPr wrap="non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Engine Type and Price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51359"/>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Deployment</a:t>
            </a:r>
            <a:endParaRPr lang="en-US" sz="4450" dirty="0"/>
          </a:p>
        </p:txBody>
      </p:sp>
      <p:sp>
        <p:nvSpPr>
          <p:cNvPr id="4" name="Text 1"/>
          <p:cNvSpPr/>
          <p:nvPr/>
        </p:nvSpPr>
        <p:spPr>
          <a:xfrm>
            <a:off x="793790" y="2400300"/>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The car price prediction model is deployed via Streamlit Cloud, making it readily accessible for users. This deployment enables the car company to leverage the model effectively for pricing decisions and market analysis.</a:t>
            </a:r>
            <a:endParaRPr lang="en-US" sz="1750" dirty="0"/>
          </a:p>
        </p:txBody>
      </p:sp>
      <p:sp>
        <p:nvSpPr>
          <p:cNvPr id="5" name="Text 2"/>
          <p:cNvSpPr/>
          <p:nvPr/>
        </p:nvSpPr>
        <p:spPr>
          <a:xfrm>
            <a:off x="793790" y="3829169"/>
            <a:ext cx="3402330" cy="425291"/>
          </a:xfrm>
          <a:prstGeom prst="rect">
            <a:avLst/>
          </a:prstGeom>
          <a:noFill/>
          <a:ln/>
        </p:spPr>
        <p:txBody>
          <a:bodyPr wrap="none" lIns="0" tIns="0" rIns="0" bIns="0" rtlCol="0" anchor="t"/>
          <a:lstStyle/>
          <a:p>
            <a:pPr indent="0" marL="0">
              <a:lnSpc>
                <a:spcPts val="3300"/>
              </a:lnSpc>
              <a:buNone/>
            </a:pPr>
            <a:r>
              <a:rPr lang="en-US" sz="2650" dirty="0">
                <a:solidFill>
                  <a:srgbClr val="FFFFFF"/>
                </a:solidFill>
                <a:latin typeface="Roboto Medium" pitchFamily="34" charset="0"/>
                <a:ea typeface="Roboto Medium" pitchFamily="34" charset="-122"/>
                <a:cs typeface="Roboto Medium" pitchFamily="34" charset="-120"/>
              </a:rPr>
              <a:t>Link to Application: </a:t>
            </a:r>
            <a:endParaRPr lang="en-US" sz="2650" dirty="0"/>
          </a:p>
        </p:txBody>
      </p:sp>
      <p:pic>
        <p:nvPicPr>
          <p:cNvPr id="6" name="Image 1" descr="preencoded.png">
            <a:hlinkClick r:id="rId3" tooltip=""/>
          </p:cNvPr>
          <p:cNvPicPr>
            <a:picLocks noChangeAspect="1"/>
          </p:cNvPicPr>
          <p:nvPr/>
        </p:nvPicPr>
        <p:blipFill>
          <a:blip r:embed="rId2"/>
          <a:stretch>
            <a:fillRect/>
          </a:stretch>
        </p:blipFill>
        <p:spPr>
          <a:xfrm>
            <a:off x="793790" y="4594622"/>
            <a:ext cx="7556421" cy="228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2025-02-22T05:49:25Z</dcterms:created>
  <dcterms:modified xsi:type="dcterms:W3CDTF">2025-02-22T05:49:25Z</dcterms:modified>
</cp:coreProperties>
</file>